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9"/>
    <p:sldId id="269" r:id="rId2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_DARK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11A31"/>
          </a:solidFill>
          <a:ln w="12700">
            <a:solidFill>
              <a:srgbClr val="111A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684264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4D0"/>
                </a:solidFill>
              </a:rPr>
              <a:t>CRAI Biblioteca UAO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502920"/>
            <a:ext cx="3749040" cy="5669280"/>
          </a:xfrm>
          <a:prstGeom prst="rect">
            <a:avLst/>
          </a:prstGeom>
          <a:solidFill>
            <a:srgbClr val="0E1630"/>
          </a:solidFill>
          <a:ln w="12700">
            <a:solidFill>
              <a:srgbClr val="0E16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914400"/>
            <a:ext cx="3108960" cy="4846320"/>
          </a:xfrm>
          <a:prstGeom prst="rect">
            <a:avLst/>
          </a:prstGeom>
          <a:solidFill>
            <a:srgbClr val="142142"/>
          </a:solidFill>
          <a:ln w="12700">
            <a:solidFill>
              <a:srgbClr val="1421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325880"/>
            <a:ext cx="2286000" cy="4023360"/>
          </a:xfrm>
          <a:prstGeom prst="rect">
            <a:avLst/>
          </a:prstGeom>
          <a:solidFill>
            <a:srgbClr val="1A2D54">
              <a:alpha val="90000"/>
            </a:srgbClr>
          </a:solidFill>
          <a:ln w="12700">
            <a:solidFill>
              <a:srgbClr val="1A2D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1325880"/>
            <a:ext cx="2651760" cy="0"/>
          </a:xfrm>
          <a:prstGeom prst="line">
            <a:avLst/>
          </a:prstGeom>
          <a:noFill/>
          <a:ln w="12700">
            <a:solidFill>
              <a:srgbClr val="1DE9B6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2130552"/>
            <a:ext cx="2651760" cy="0"/>
          </a:xfrm>
          <a:prstGeom prst="line">
            <a:avLst/>
          </a:prstGeom>
          <a:noFill/>
          <a:ln w="12700">
            <a:solidFill>
              <a:srgbClr val="58A6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2935224"/>
            <a:ext cx="2651760" cy="0"/>
          </a:xfrm>
          <a:prstGeom prst="line">
            <a:avLst/>
          </a:prstGeom>
          <a:noFill/>
          <a:ln w="12700">
            <a:solidFill>
              <a:srgbClr val="1DE9B6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3739896"/>
            <a:ext cx="2651760" cy="0"/>
          </a:xfrm>
          <a:prstGeom prst="line">
            <a:avLst/>
          </a:prstGeom>
          <a:noFill/>
          <a:ln w="12700">
            <a:solidFill>
              <a:srgbClr val="58A6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66760" y="4544568"/>
            <a:ext cx="2651760" cy="0"/>
          </a:xfrm>
          <a:prstGeom prst="line">
            <a:avLst/>
          </a:prstGeom>
          <a:noFill/>
          <a:ln w="12700">
            <a:solidFill>
              <a:srgbClr val="1DE9B6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234440"/>
            <a:ext cx="0" cy="384048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09728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de Inteligencia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para la Biblioteca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0120" y="26974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0"/>
                </a:solidFill>
              </a:rPr>
              <a:t>Propuesta de trabajo, sustento metodológico, EDA teórico, implementación hipotética y cronograma de ejecución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3456432"/>
            <a:ext cx="2697480" cy="320040"/>
          </a:xfrm>
          <a:prstGeom prst="roundRect">
            <a:avLst>
              <a:gd name="adj" fmla="val 22857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51129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E9B6"/>
                </a:solidFill>
              </a:rPr>
              <a:t>Automatización de catalogación bibliográfica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94760" y="3456432"/>
            <a:ext cx="1965960" cy="320040"/>
          </a:xfrm>
          <a:prstGeom prst="roundRect">
            <a:avLst>
              <a:gd name="adj" fmla="val 22857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35112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E9B6"/>
                </a:solidFill>
              </a:rPr>
              <a:t>Enfoque human-in-the-loop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3456432"/>
            <a:ext cx="1627632" cy="320040"/>
          </a:xfrm>
          <a:prstGeom prst="roundRect">
            <a:avLst>
              <a:gd name="adj" fmla="val 22857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351129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E9B6"/>
                </a:solidFill>
              </a:rPr>
              <a:t>Piloto orientado a valor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4206240"/>
            <a:ext cx="6675120" cy="1325880"/>
          </a:xfrm>
          <a:prstGeom prst="roundRect">
            <a:avLst>
              <a:gd name="adj" fmla="val 5517"/>
            </a:avLst>
          </a:prstGeom>
          <a:solidFill>
            <a:srgbClr val="101A33"/>
          </a:solidFill>
          <a:ln w="12700">
            <a:solidFill>
              <a:srgbClr val="24314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43000" y="44805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</a:rPr>
              <a:t>Institución: Proyectos CRAI-Biblioteca UAO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</a:rPr>
              <a:t>Responsable: Hugo Alberto Gallo Machado · hagallo@uao.edu.co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</a:rPr>
              <a:t>Estudiantes asignados: Cesar Armando Reyes Oliveros · Juan Pablo Maya Escudero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Contexto y problema a resolver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catalogación es técnica, repetitiva y crítica para la calidad del servicio bibliotecario.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235440" y="566928"/>
            <a:ext cx="228600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5532120" cy="4983480"/>
          </a:xfrm>
          <a:prstGeom prst="roundRect">
            <a:avLst>
              <a:gd name="adj" fmla="val 1468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0" y="1234440"/>
            <a:ext cx="5532120" cy="4983480"/>
          </a:xfrm>
          <a:prstGeom prst="roundRect">
            <a:avLst>
              <a:gd name="adj" fmla="val 1468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81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Dolores del proceso actual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481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Oportunidad del proyecto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810512"/>
            <a:ext cx="1097280" cy="0"/>
          </a:xfrm>
          <a:prstGeom prst="line">
            <a:avLst/>
          </a:prstGeom>
          <a:noFill/>
          <a:ln w="12700">
            <a:solidFill>
              <a:srgbClr val="58A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810512"/>
            <a:ext cx="1097280" cy="0"/>
          </a:xfrm>
          <a:prstGeom prst="line">
            <a:avLst/>
          </a:prstGeom>
          <a:noFill/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93392"/>
            <a:ext cx="4892040" cy="3840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captura manual de metadatos exige tiempo y revisión permanente de portada, página legal, índice e ISBN.</a:t>
            </a:r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variación en criterios de registro puede generar inconsistencias en autores, materias, edición y descripción física.</a:t>
            </a:r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tiempo operativo invertido en tareas repetitivas reduce espacio para análisis, validación fina y atención al usuario.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19088" y="1993392"/>
            <a:ext cx="4892040" cy="3840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Implementar un agente de IA que sugiera metadatos, detecte faltantes y apoye la pre-catalogación.</a:t>
            </a:r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al bibliotecario como validador final para asegurar control de calidad y cumplimiento técnico.</a:t>
            </a:r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Disminuir tiempos de alistamiento sin sacrificar trazabilidad ni consistencia bibliográfica.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635508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162239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6455664"/>
            <a:ext cx="10661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9B4D0"/>
                </a:solidFill>
              </a:rPr>
              <a:t>Mensaje clave para exponer: la IA no reemplaza el criterio bibliotecario; lo potencia con velocidad y trazabilidad.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Objetivo general y alcance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vamos a construir y hasta dónde llega la primera versión del proyecto.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235440" y="566928"/>
            <a:ext cx="228600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21F3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36192"/>
            <a:ext cx="10469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Diseñar e implementar un agente de inteligencia artificial que apoye la catalogación de libros en la Biblioteca UAO, automatizando la extracción, normalización y sugerencia de metadatos con validación humana final.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5532120" cy="3383280"/>
          </a:xfrm>
          <a:prstGeom prst="roundRect">
            <a:avLst>
              <a:gd name="adj" fmla="val 2162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72200" y="2743200"/>
            <a:ext cx="5532120" cy="3383280"/>
          </a:xfrm>
          <a:prstGeom prst="roundRect">
            <a:avLst>
              <a:gd name="adj" fmla="val 2162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999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Incluye en el prototipo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999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 incluye en la primera fase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328416"/>
            <a:ext cx="1097280" cy="0"/>
          </a:xfrm>
          <a:prstGeom prst="line">
            <a:avLst/>
          </a:prstGeom>
          <a:noFill/>
          <a:ln w="12700">
            <a:solidFill>
              <a:srgbClr val="58A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3328416"/>
            <a:ext cx="1097280" cy="0"/>
          </a:xfrm>
          <a:prstGeom prst="line">
            <a:avLst/>
          </a:prstGeom>
          <a:noFill/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11296"/>
            <a:ext cx="489204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de fuentes como portada, contraportada, página legal, tabla de contenido e ISBN.</a:t>
            </a:r>
            <a:pPr indent="0" marL="0">
              <a:buNone/>
            </a:pPr>
            <a:r>
              <a:rPr lang="en-US" sz="14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Sugerencia de campos: título, autor, editorial, año, edición, materias, resumen y alertas de inconsistencia.</a:t>
            </a:r>
            <a:pPr indent="0" marL="0">
              <a:buNone/>
            </a:pPr>
            <a:r>
              <a:rPr lang="en-US" sz="14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 o flujo de revisión para que el catalogador apruebe, corrija o descarte sugerencias.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6419088" y="3511296"/>
            <a:ext cx="489204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 total sin revisión humana.</a:t>
            </a:r>
            <a:pPr indent="0" marL="0">
              <a:buNone/>
            </a:pPr>
            <a:r>
              <a:rPr lang="en-US" sz="14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productiva completa con todos los sistemas institucionales desde el primer sprint.</a:t>
            </a:r>
            <a:pPr indent="0" marL="0">
              <a:buNone/>
            </a:pPr>
            <a:r>
              <a:rPr lang="en-US" sz="14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de todos los tipos documentales más allá de libros impresos, salvo que el alcance se amplíe.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¿Cómo lo vamos a trabajar?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Metodología por fases, con entregables cortos y validación continua del CRAI-Biblioteca.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235440" y="566928"/>
            <a:ext cx="228600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2029968" cy="4160520"/>
          </a:xfrm>
          <a:prstGeom prst="roundRect">
            <a:avLst>
              <a:gd name="adj" fmla="val 3604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847088"/>
            <a:ext cx="603504" cy="292608"/>
          </a:xfrm>
          <a:prstGeom prst="roundRect">
            <a:avLst>
              <a:gd name="adj" fmla="val 25000"/>
            </a:avLst>
          </a:prstGeom>
          <a:solidFill>
            <a:srgbClr val="182A48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90195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</a:rPr>
              <a:t>Fase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7512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Diagnóstico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" y="2788920"/>
            <a:ext cx="1664208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Mapeo del proceso actual, actores, insumos, cuellos de botella y criterios de aceptación.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0" y="3429000"/>
            <a:ext cx="164592" cy="320040"/>
          </a:xfrm>
          <a:prstGeom prst="chevron">
            <a:avLst/>
          </a:prstGeom>
          <a:solidFill>
            <a:srgbClr val="5D6D90"/>
          </a:solidFill>
          <a:ln w="12700">
            <a:solidFill>
              <a:srgbClr val="5D6D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645920"/>
            <a:ext cx="2029968" cy="4160520"/>
          </a:xfrm>
          <a:prstGeom prst="roundRect">
            <a:avLst>
              <a:gd name="adj" fmla="val 3604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9232" y="1847088"/>
            <a:ext cx="603504" cy="292608"/>
          </a:xfrm>
          <a:prstGeom prst="roundRect">
            <a:avLst>
              <a:gd name="adj" fmla="val 25000"/>
            </a:avLst>
          </a:prstGeom>
          <a:solidFill>
            <a:srgbClr val="182A48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90195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</a:rPr>
              <a:t>Fase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99232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Diseño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99232" y="2788920"/>
            <a:ext cx="1664208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Definición funcional y técnica del agente, entradas, salidas, reglas y arquitectura.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92040" y="3429000"/>
            <a:ext cx="164592" cy="320040"/>
          </a:xfrm>
          <a:prstGeom prst="chevron">
            <a:avLst/>
          </a:prstGeom>
          <a:solidFill>
            <a:srgbClr val="5D6D90"/>
          </a:solidFill>
          <a:ln w="12700">
            <a:solidFill>
              <a:srgbClr val="5D6D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1645920"/>
            <a:ext cx="2029968" cy="4160520"/>
          </a:xfrm>
          <a:prstGeom prst="roundRect">
            <a:avLst>
              <a:gd name="adj" fmla="val 3604"/>
            </a:avLst>
          </a:prstGeom>
          <a:solidFill>
            <a:srgbClr val="14274A"/>
          </a:solidFill>
          <a:ln w="12700">
            <a:solidFill>
              <a:srgbClr val="1DE9B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0952" y="1847088"/>
            <a:ext cx="603504" cy="292608"/>
          </a:xfrm>
          <a:prstGeom prst="roundRect">
            <a:avLst>
              <a:gd name="adj" fmla="val 25000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90195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E9B6"/>
                </a:solidFill>
              </a:rPr>
              <a:t>Fase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30952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Desarrollo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30952" y="2788920"/>
            <a:ext cx="1664208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Construcción del prototipo con OCR, NLP, reglas bibliográficas y revisión asistida.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23760" y="3429000"/>
            <a:ext cx="164592" cy="320040"/>
          </a:xfrm>
          <a:prstGeom prst="chevron">
            <a:avLst/>
          </a:prstGeom>
          <a:solidFill>
            <a:srgbClr val="5D6D90"/>
          </a:solidFill>
          <a:ln w="12700">
            <a:solidFill>
              <a:srgbClr val="5D6D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1645920"/>
            <a:ext cx="2029968" cy="4160520"/>
          </a:xfrm>
          <a:prstGeom prst="roundRect">
            <a:avLst>
              <a:gd name="adj" fmla="val 3604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62672" y="1847088"/>
            <a:ext cx="603504" cy="292608"/>
          </a:xfrm>
          <a:prstGeom prst="roundRect">
            <a:avLst>
              <a:gd name="adj" fmla="val 25000"/>
            </a:avLst>
          </a:prstGeom>
          <a:solidFill>
            <a:srgbClr val="182A48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2672" y="190195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</a:rPr>
              <a:t>Fase 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62672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Piloto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62672" y="2788920"/>
            <a:ext cx="1664208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Pruebas con libros reales, comparación con registros validados y medición de precisión.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555480" y="3429000"/>
            <a:ext cx="164592" cy="320040"/>
          </a:xfrm>
          <a:prstGeom prst="chevron">
            <a:avLst/>
          </a:prstGeom>
          <a:solidFill>
            <a:srgbClr val="5D6D90"/>
          </a:solidFill>
          <a:ln w="12700">
            <a:solidFill>
              <a:srgbClr val="5D6D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9800" y="1645920"/>
            <a:ext cx="2029968" cy="4160520"/>
          </a:xfrm>
          <a:prstGeom prst="roundRect">
            <a:avLst>
              <a:gd name="adj" fmla="val 3604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994392" y="1847088"/>
            <a:ext cx="603504" cy="292608"/>
          </a:xfrm>
          <a:prstGeom prst="roundRect">
            <a:avLst>
              <a:gd name="adj" fmla="val 25000"/>
            </a:avLst>
          </a:prstGeom>
          <a:solidFill>
            <a:srgbClr val="182A48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94392" y="190195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</a:rPr>
              <a:t>Fase 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994392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Mejora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994392" y="2788920"/>
            <a:ext cx="1664208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Ajustes de prompts, reglas, interfaz, métricas y plan de escalamiento.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6144768"/>
            <a:ext cx="10835640" cy="502920"/>
          </a:xfrm>
          <a:prstGeom prst="roundRect">
            <a:avLst>
              <a:gd name="adj" fmla="val 10909"/>
            </a:avLst>
          </a:prstGeom>
          <a:solidFill>
            <a:srgbClr val="162239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" y="6245352"/>
            <a:ext cx="1061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9B4D0"/>
                </a:solidFill>
              </a:rPr>
              <a:t>Narrativa recomendada: mostrar un proyecto incremental, con una salida utilizable desde el piloto y sin prometer automatización total temprana.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EDA teórico del proyecto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entrenar o parametrizar el agente, conviene analizar la forma y calidad de los datos disponibles.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235440" y="566928"/>
            <a:ext cx="228600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Fuentes a explorar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1984248"/>
            <a:ext cx="96012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167128"/>
            <a:ext cx="4828032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bibliográficos históricos del catálogo.</a:t>
            </a:r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Portadas, páginas legales, índices y contraportadas digitalizadas.</a:t>
            </a:r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existentes en el sistema actual: ISBN, autores, materias, editorial, año.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01B35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691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Variables críticas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0" y="1984248"/>
            <a:ext cx="96012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3368" y="2167128"/>
            <a:ext cx="4828032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Completitud por campo.</a:t>
            </a:r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Frecuencia de autores repetidos, editoriales y materias.</a:t>
            </a:r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Tasa de duplicados, inconsistencias ortográficas y campos vacíos.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7947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977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Preguntas del EDA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4270248"/>
            <a:ext cx="960120" cy="0"/>
          </a:xfrm>
          <a:prstGeom prst="line">
            <a:avLst/>
          </a:prstGeom>
          <a:noFill/>
          <a:ln w="12700">
            <a:solidFill>
              <a:srgbClr val="FFC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453128"/>
            <a:ext cx="4828032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campos se pueden inferir con alta confianza?</a:t>
            </a:r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están los errores más comunes del registro manual?</a:t>
            </a:r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combinación de fuentes aporta más precisión?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72200" y="37947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01B35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977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Indicadores esperados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0" y="4270248"/>
            <a:ext cx="960120" cy="0"/>
          </a:xfrm>
          <a:prstGeom prst="line">
            <a:avLst/>
          </a:prstGeom>
          <a:noFill/>
          <a:ln w="12700">
            <a:solidFill>
              <a:srgbClr val="FFC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4453128"/>
            <a:ext cx="4828032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de registros completos.</a:t>
            </a:r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de coincidencia entre sugerencia y validación humana.</a:t>
            </a:r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promedio antes vs. después del agente.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85800" y="5989320"/>
            <a:ext cx="10835640" cy="502920"/>
          </a:xfrm>
          <a:prstGeom prst="roundRect">
            <a:avLst>
              <a:gd name="adj" fmla="val 10909"/>
            </a:avLst>
          </a:prstGeom>
          <a:solidFill>
            <a:srgbClr val="162239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6089904"/>
            <a:ext cx="1061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9B4D0"/>
                </a:solidFill>
              </a:rPr>
              <a:t>Recomendación: presentar el EDA como la base que permite decidir con qué datos arrancar, qué limpiar y qué métricas usar.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Implementación teórica del agente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propuesta para una primera solución funcional y escalable.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235440" y="566928"/>
            <a:ext cx="228600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4871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1. Ingesta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6384" y="280720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Libro físico o archivo escaneado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ISBN, portada, página legal e índice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88920" y="233172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35224" y="24871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2. Extracción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35224" y="280720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OCR + parser de texto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Normalización básica de campos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37760" y="23317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2700">
            <a:solidFill>
              <a:srgbClr val="1DE9B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84064" y="24871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 Motor IA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84064" y="2807208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NLP + reglas bibliográficas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Sugerencias y detección de faltantes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23317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61504" y="24871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4. Validación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461504" y="2807208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Revisión del catalogador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Aprobación, corrección o rechazo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0" y="23317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47504" y="24871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5. Salida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747504" y="280720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Registro listo para exportar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a MARC 21 / sistema interno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97280" y="4297680"/>
            <a:ext cx="10012680" cy="1051560"/>
          </a:xfrm>
          <a:prstGeom prst="roundRect">
            <a:avLst>
              <a:gd name="adj" fmla="val 6957"/>
            </a:avLst>
          </a:prstGeom>
          <a:solidFill>
            <a:srgbClr val="0F1730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25880" y="45171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</a:rPr>
              <a:t>Capa transversal de gobierno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37560" y="449884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8EEF9"/>
                </a:solidFill>
              </a:rPr>
              <a:t>Reglas de calidad · bitácora de decisiones · trazabilidad de evidencias · retroalimentación para mejora continua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5800" y="5897880"/>
            <a:ext cx="10835640" cy="502920"/>
          </a:xfrm>
          <a:prstGeom prst="roundRect">
            <a:avLst>
              <a:gd name="adj" fmla="val 10909"/>
            </a:avLst>
          </a:prstGeom>
          <a:solidFill>
            <a:srgbClr val="162239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5998464"/>
            <a:ext cx="1061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9B4D0"/>
                </a:solidFill>
              </a:rPr>
              <a:t>Esta implementación es teórica: sirve para mostrar cómo se conectan insumos, IA, reglas y validación humana en un flujo realista.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Flujo de trabajo hipotético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de cómo operaría el proceso cuando el prototipo esté en uso.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235440" y="566928"/>
            <a:ext cx="228600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5608" y="3108960"/>
            <a:ext cx="804672" cy="0"/>
          </a:xfrm>
          <a:prstGeom prst="line">
            <a:avLst/>
          </a:prstGeom>
          <a:noFill/>
          <a:ln w="12700">
            <a:solidFill>
              <a:srgbClr val="4B5A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75888" y="3108960"/>
            <a:ext cx="804672" cy="0"/>
          </a:xfrm>
          <a:prstGeom prst="line">
            <a:avLst/>
          </a:prstGeom>
          <a:noFill/>
          <a:ln w="12700">
            <a:solidFill>
              <a:srgbClr val="4B5A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16168" y="3108960"/>
            <a:ext cx="804672" cy="0"/>
          </a:xfrm>
          <a:prstGeom prst="line">
            <a:avLst/>
          </a:prstGeom>
          <a:noFill/>
          <a:ln w="12700">
            <a:solidFill>
              <a:srgbClr val="4B5A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56448" y="3108960"/>
            <a:ext cx="804672" cy="0"/>
          </a:xfrm>
          <a:prstGeom prst="line">
            <a:avLst/>
          </a:prstGeom>
          <a:noFill/>
          <a:ln w="12700">
            <a:solidFill>
              <a:srgbClr val="4B5A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868680" cy="868680"/>
          </a:xfrm>
          <a:prstGeom prst="ellipse">
            <a:avLst/>
          </a:prstGeom>
          <a:solidFill>
            <a:srgbClr val="18284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871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" y="3273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Recepción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28600" y="3621024"/>
            <a:ext cx="1691640" cy="1170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E8EEF9"/>
                </a:solidFill>
              </a:rPr>
              <a:t>El libro ingresa al CRAI y se digitalizan las páginas mínimas necesarias.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2880360" y="2240280"/>
            <a:ext cx="868680" cy="868680"/>
          </a:xfrm>
          <a:prstGeom prst="ellipse">
            <a:avLst/>
          </a:prstGeom>
          <a:solidFill>
            <a:srgbClr val="18284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24871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15768" y="3273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Lectura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468880" y="3621024"/>
            <a:ext cx="1691640" cy="1170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E8EEF9"/>
                </a:solidFill>
              </a:rPr>
              <a:t>El sistema toma ISBN, portada, página legal e índice como insumos iniciales.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120640" y="2240280"/>
            <a:ext cx="868680" cy="868680"/>
          </a:xfrm>
          <a:prstGeom prst="ellipse">
            <a:avLst/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4871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E9B6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56048" y="3273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Sugerencia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709160" y="3621024"/>
            <a:ext cx="1691640" cy="1170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E8EEF9"/>
                </a:solidFill>
              </a:rPr>
              <a:t>El agente propone metadatos y alerta campos incompletos o inconsistentes.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360920" y="2240280"/>
            <a:ext cx="868680" cy="868680"/>
          </a:xfrm>
          <a:prstGeom prst="ellipse">
            <a:avLst/>
          </a:prstGeom>
          <a:solidFill>
            <a:srgbClr val="18284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24871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96328" y="3273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Validación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949440" y="3621024"/>
            <a:ext cx="1691640" cy="1170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E8EEF9"/>
                </a:solidFill>
              </a:rPr>
              <a:t>El bibliotecario revisa, ajusta y aprueba el registro con evidencia visible.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9601200" y="2240280"/>
            <a:ext cx="868680" cy="868680"/>
          </a:xfrm>
          <a:prstGeom prst="ellipse">
            <a:avLst/>
          </a:prstGeom>
          <a:solidFill>
            <a:srgbClr val="18284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0" y="24871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436608" y="3273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Publicación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189720" y="3621024"/>
            <a:ext cx="1691640" cy="1170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E8EEF9"/>
                </a:solidFill>
              </a:rPr>
              <a:t>El registro validado se exporta al sistema institucional y queda trazado.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22960" y="52578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21F3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43000" y="545896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Resultado esperado: menos tiempo en captura repetitiva y más tiempo en validación experta, calidad y servicio al usuario.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¿Basado en qué se construye?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propuesta mezcla estándares bibliográficos, IA aplicada y control humano.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235440" y="566928"/>
            <a:ext cx="228600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5532120" cy="4983480"/>
          </a:xfrm>
          <a:prstGeom prst="roundRect">
            <a:avLst>
              <a:gd name="adj" fmla="val 1468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0" y="1234440"/>
            <a:ext cx="5532120" cy="4983480"/>
          </a:xfrm>
          <a:prstGeom prst="roundRect">
            <a:avLst>
              <a:gd name="adj" fmla="val 1468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81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Base bibliotecológica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481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Base tecnológica y de calidad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810512"/>
            <a:ext cx="1097280" cy="0"/>
          </a:xfrm>
          <a:prstGeom prst="line">
            <a:avLst/>
          </a:prstGeom>
          <a:noFill/>
          <a:ln w="12700">
            <a:solidFill>
              <a:srgbClr val="58A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810512"/>
            <a:ext cx="1097280" cy="0"/>
          </a:xfrm>
          <a:prstGeom prst="line">
            <a:avLst/>
          </a:prstGeom>
          <a:noFill/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93392"/>
            <a:ext cx="4892040" cy="3840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RDA como referencia para descripción y relación entre elementos bibliográficos.</a:t>
            </a:r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 21 como estructura objetivo o de interoperabilidad para los registros resultantes.</a:t>
            </a:r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Dublin Core como apoyo conceptual para metadatos interoperables en ecosistemas digitales.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19088" y="1993392"/>
            <a:ext cx="4892040" cy="3840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para convertir imagen en texto utilizable por el agente.</a:t>
            </a:r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/ IA generativa para extraer, normalizar y sugerir campos con evidencia.</a:t>
            </a:r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 para asegurar explicabilidad, corrección y mejora continua del sistema.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Validación piloto y métricas de éxito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demostrar que el prototipo aporta valor real al proceso de catalogación.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235440" y="566928"/>
            <a:ext cx="228600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5532120" cy="4617720"/>
          </a:xfrm>
          <a:prstGeom prst="roundRect">
            <a:avLst>
              <a:gd name="adj" fmla="val 1584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0" y="1234440"/>
            <a:ext cx="5532120" cy="4617720"/>
          </a:xfrm>
          <a:prstGeom prst="roundRect">
            <a:avLst>
              <a:gd name="adj" fmla="val 1584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81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Prueba piloto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481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Métricas recomendadas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810512"/>
            <a:ext cx="1097280" cy="0"/>
          </a:xfrm>
          <a:prstGeom prst="line">
            <a:avLst/>
          </a:prstGeom>
          <a:noFill/>
          <a:ln w="12700">
            <a:solidFill>
              <a:srgbClr val="58A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810512"/>
            <a:ext cx="1097280" cy="0"/>
          </a:xfrm>
          <a:prstGeom prst="line">
            <a:avLst/>
          </a:prstGeom>
          <a:noFill/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93392"/>
            <a:ext cx="4892040" cy="3337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un conjunto controlado de libros representativos por área o complejidad.</a:t>
            </a:r>
            <a:pPr indent="0" marL="0">
              <a:buNone/>
            </a:pPr>
            <a:r>
              <a:rPr lang="en-US" sz="144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40" dirty="0"/>
          </a:p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el registro sugerido por el agente contra el registro final validado por el bibliotecario.</a:t>
            </a:r>
            <a:pPr indent="0" marL="0">
              <a:buNone/>
            </a:pPr>
            <a:r>
              <a:rPr lang="en-US" sz="144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40" dirty="0"/>
          </a:p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Analizar errores recurrentes en título, autores, materias, editoriales, fechas y duplicados.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6419088" y="1993392"/>
            <a:ext cx="4892040" cy="3337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Precisión de extracción por campo crítico.</a:t>
            </a:r>
            <a:pPr indent="0" marL="0">
              <a:buNone/>
            </a:pPr>
            <a:r>
              <a:rPr lang="en-US" sz="144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40" dirty="0"/>
          </a:p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Reducción del tiempo promedio de pre-catalogación.</a:t>
            </a:r>
            <a:pPr indent="0" marL="0">
              <a:buNone/>
            </a:pPr>
            <a:r>
              <a:rPr lang="en-US" sz="144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40" dirty="0"/>
          </a:p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Porcentaje de sugerencias aceptadas sin cambios, con ajuste menor y con rechazo.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777240" y="589788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162239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5998464"/>
            <a:ext cx="10479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9B4D0"/>
                </a:solidFill>
              </a:rPr>
              <a:t>KPI central: mostrar que el agente ahorra tiempo sin deteriorar la calidad del registro bibliográfico.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400" b="1">
                <a:solidFill>
                  <a:srgbClr val="FFFFFF"/>
                </a:solidFill>
              </a:rPr>
              <a:t>9. Resultados reales — Métricas de evaluación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>
                <a:solidFill>
                  <a:srgbClr val="B4B4DC"/>
                </a:solidFill>
              </a:rPr>
              <a:t>Evaluación sobre 5 documentos reales con ground truth verificado.</a:t>
            </a:r>
            <a:endParaRPr lang="en-US" sz="1050" dirty="0"/>
          </a:p>
        </p:txBody>
      </p:sp>
      <p:pic>
        <p:nvPicPr>
          <p:cNvPr id="4" name="Picture 3" descr="char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1277600" cy="4511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400" b="1">
                <a:solidFill>
                  <a:srgbClr val="FFFFFF"/>
                </a:solidFill>
              </a:rPr>
              <a:t>10. Precisión por campo de catalogación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>
                <a:solidFill>
                  <a:srgbClr val="B4B4DC"/>
                </a:solidFill>
              </a:rPr>
              <a:t>Promedio global: 58.9% · Confianza OCR promedio: 68.6% · Motor: Tesseract</a:t>
            </a:r>
            <a:endParaRPr lang="en-US" sz="1050" dirty="0"/>
          </a:p>
        </p:txBody>
      </p:sp>
      <p:pic>
        <p:nvPicPr>
          <p:cNvPr id="4" name="Picture 3" descr="chart_field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14500"/>
            <a:ext cx="11460480" cy="5730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Cronograma hipotético (desde la semana pasada hasta la exposición)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Fechas explícitas para evitar ambigüedad. Mañana corresponde al sábado 28 de marzo de 2026.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235440" y="566928"/>
            <a:ext cx="228600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Actividad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88920" y="1664208"/>
            <a:ext cx="8449056" cy="0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43560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</a:rPr>
              <a:t>16 Mar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2788920" y="1783080"/>
            <a:ext cx="0" cy="3730752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143560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</a:rPr>
              <a:t>17 Mar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557016" y="1783080"/>
            <a:ext cx="0" cy="3730752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143560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</a:rPr>
              <a:t>18 Mar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325112" y="1783080"/>
            <a:ext cx="0" cy="3730752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143560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</a:rPr>
              <a:t>19 Mar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093208" y="1783080"/>
            <a:ext cx="0" cy="3730752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61304" y="143560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</a:rPr>
              <a:t>20 Mar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861304" y="1783080"/>
            <a:ext cx="0" cy="3730752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43560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</a:rPr>
              <a:t>23 Mar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629400" y="1783080"/>
            <a:ext cx="0" cy="3730752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97496" y="143560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</a:rPr>
              <a:t>24 Mar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397496" y="1783080"/>
            <a:ext cx="0" cy="3730752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5592" y="143560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</a:rPr>
              <a:t>25 Mar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8165592" y="1783080"/>
            <a:ext cx="0" cy="3730752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33688" y="143560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</a:rPr>
              <a:t>26 Mar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933688" y="1783080"/>
            <a:ext cx="0" cy="3730752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01784" y="143560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</a:rPr>
              <a:t>27 Mar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9701784" y="1783080"/>
            <a:ext cx="0" cy="3730752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69880" y="143560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</a:rPr>
              <a:t>28 Mar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10469880" y="1783080"/>
            <a:ext cx="0" cy="3730752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237976" y="1783080"/>
            <a:ext cx="0" cy="3730752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1920240"/>
            <a:ext cx="1874520" cy="475488"/>
          </a:xfrm>
          <a:prstGeom prst="roundRect">
            <a:avLst>
              <a:gd name="adj" fmla="val 7692"/>
            </a:avLst>
          </a:prstGeom>
          <a:solidFill>
            <a:srgbClr val="101A33"/>
          </a:solidFill>
          <a:ln w="12700">
            <a:solidFill>
              <a:srgbClr val="2731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2057400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9"/>
                </a:solidFill>
              </a:rPr>
              <a:t>Definición del alcance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88920" y="2478024"/>
            <a:ext cx="8449056" cy="0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62072" y="1993392"/>
            <a:ext cx="1389888" cy="310896"/>
          </a:xfrm>
          <a:prstGeom prst="roundRect">
            <a:avLst>
              <a:gd name="adj" fmla="val 17647"/>
            </a:avLst>
          </a:prstGeom>
          <a:solidFill>
            <a:srgbClr val="6E8EDC"/>
          </a:solidFill>
          <a:ln w="12700">
            <a:solidFill>
              <a:srgbClr val="6E8E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62072" y="207568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9223B"/>
                </a:solidFill>
              </a:rPr>
              <a:t>En curso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731520" y="2523744"/>
            <a:ext cx="1874520" cy="475488"/>
          </a:xfrm>
          <a:prstGeom prst="roundRect">
            <a:avLst>
              <a:gd name="adj" fmla="val 7692"/>
            </a:avLst>
          </a:prstGeom>
          <a:solidFill>
            <a:srgbClr val="0F1730"/>
          </a:solidFill>
          <a:ln w="12700">
            <a:solidFill>
              <a:srgbClr val="2731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2660904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9"/>
                </a:solidFill>
              </a:rPr>
              <a:t>Levantamiento del proceso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88920" y="3081528"/>
            <a:ext cx="8449056" cy="0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98264" y="2596896"/>
            <a:ext cx="2157984" cy="310896"/>
          </a:xfrm>
          <a:prstGeom prst="roundRect">
            <a:avLst>
              <a:gd name="adj" fmla="val 17647"/>
            </a:avLst>
          </a:prstGeom>
          <a:solidFill>
            <a:srgbClr val="6E8EDC"/>
          </a:solidFill>
          <a:ln w="12700">
            <a:solidFill>
              <a:srgbClr val="6E8E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98264" y="2679192"/>
            <a:ext cx="21579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9223B"/>
                </a:solidFill>
              </a:rPr>
              <a:t>En curso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731520" y="3127248"/>
            <a:ext cx="1874520" cy="475488"/>
          </a:xfrm>
          <a:prstGeom prst="roundRect">
            <a:avLst>
              <a:gd name="adj" fmla="val 7692"/>
            </a:avLst>
          </a:prstGeom>
          <a:solidFill>
            <a:srgbClr val="101A33"/>
          </a:solidFill>
          <a:ln w="12700">
            <a:solidFill>
              <a:srgbClr val="2731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3264408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9"/>
                </a:solidFill>
              </a:rPr>
              <a:t>EDA teórico y criterios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788920" y="3685032"/>
            <a:ext cx="8449056" cy="0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02552" y="3200400"/>
            <a:ext cx="1389888" cy="310896"/>
          </a:xfrm>
          <a:prstGeom prst="roundRect">
            <a:avLst>
              <a:gd name="adj" fmla="val 17647"/>
            </a:avLst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02552" y="3282696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9223B"/>
                </a:solidFill>
              </a:rPr>
              <a:t>En curso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731520" y="3730752"/>
            <a:ext cx="1874520" cy="475488"/>
          </a:xfrm>
          <a:prstGeom prst="roundRect">
            <a:avLst>
              <a:gd name="adj" fmla="val 7692"/>
            </a:avLst>
          </a:prstGeom>
          <a:solidFill>
            <a:srgbClr val="0F1730"/>
          </a:solidFill>
          <a:ln w="12700">
            <a:solidFill>
              <a:srgbClr val="2731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3867912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9"/>
                </a:solidFill>
              </a:rPr>
              <a:t>Arquitectura e implementación teórica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788920" y="4288536"/>
            <a:ext cx="8449056" cy="0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70648" y="3803904"/>
            <a:ext cx="1389888" cy="310896"/>
          </a:xfrm>
          <a:prstGeom prst="roundRect">
            <a:avLst>
              <a:gd name="adj" fmla="val 1764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70648" y="3886200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9223B"/>
                </a:solidFill>
              </a:rPr>
              <a:t>En curso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731520" y="4334256"/>
            <a:ext cx="1874520" cy="475488"/>
          </a:xfrm>
          <a:prstGeom prst="roundRect">
            <a:avLst>
              <a:gd name="adj" fmla="val 7692"/>
            </a:avLst>
          </a:prstGeom>
          <a:solidFill>
            <a:srgbClr val="101A33"/>
          </a:solidFill>
          <a:ln w="12700">
            <a:solidFill>
              <a:srgbClr val="2731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" y="4471416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9"/>
                </a:solidFill>
              </a:rPr>
              <a:t>Construcción y ajuste de la exposición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2788920" y="4892040"/>
            <a:ext cx="8449056" cy="0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06840" y="4407408"/>
            <a:ext cx="1389888" cy="310896"/>
          </a:xfrm>
          <a:prstGeom prst="roundRect">
            <a:avLst>
              <a:gd name="adj" fmla="val 17647"/>
            </a:avLst>
          </a:prstGeom>
          <a:solidFill>
            <a:srgbClr val="8AA3F0"/>
          </a:solidFill>
          <a:ln w="12700">
            <a:solidFill>
              <a:srgbClr val="8AA3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06840" y="4489704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9223B"/>
                </a:solidFill>
              </a:rPr>
              <a:t>En curso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731520" y="4937760"/>
            <a:ext cx="1874520" cy="475488"/>
          </a:xfrm>
          <a:prstGeom prst="roundRect">
            <a:avLst>
              <a:gd name="adj" fmla="val 7692"/>
            </a:avLst>
          </a:prstGeom>
          <a:solidFill>
            <a:srgbClr val="0F1730"/>
          </a:solidFill>
          <a:ln w="12700">
            <a:solidFill>
              <a:srgbClr val="2731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" y="5074920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9"/>
                </a:solidFill>
              </a:rPr>
              <a:t>Exposición del proyecto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2788920" y="5495544"/>
            <a:ext cx="8449056" cy="0"/>
          </a:xfrm>
          <a:prstGeom prst="line">
            <a:avLst/>
          </a:prstGeom>
          <a:noFill/>
          <a:ln w="12700">
            <a:solidFill>
              <a:srgbClr val="2731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43032" y="5010912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43032" y="5093208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2B00"/>
                </a:solidFill>
              </a:rPr>
              <a:t>Expo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731520" y="5897880"/>
            <a:ext cx="10835640" cy="502920"/>
          </a:xfrm>
          <a:prstGeom prst="roundRect">
            <a:avLst>
              <a:gd name="adj" fmla="val 10909"/>
            </a:avLst>
          </a:prstGeom>
          <a:solidFill>
            <a:srgbClr val="162239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" y="5998464"/>
            <a:ext cx="1061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9B4D0"/>
                </a:solidFill>
              </a:rPr>
              <a:t>Léelo como un cronograma hipotético de preparación: la exposición está programada para mañana, sábado 28 de marzo de 2026.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¿Qué más conviene agregar al proyecto?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Recomendaciones para que la propuesta se vea más robusta y viable ante evaluación académica o institucional.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235440" y="566928"/>
            <a:ext cx="228600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5285232" cy="1188720"/>
          </a:xfrm>
          <a:prstGeom prst="roundRect">
            <a:avLst>
              <a:gd name="adj" fmla="val 6154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636776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8249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E9B6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35608" y="16184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Gobierno de datos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35608" y="189280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Definir de dónde salen los registros, quién los limpia y cómo se protegen los datos.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1417320"/>
            <a:ext cx="5285232" cy="1188720"/>
          </a:xfrm>
          <a:prstGeom prst="roundRect">
            <a:avLst>
              <a:gd name="adj" fmla="val 6154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088" y="1636776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8249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E9B6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13448" y="16184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Métricas de éxito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13448" y="189280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Dejar desde el inicio KPIs claros de precisión, tiempo ahorrado y tasa de aceptación.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2926080"/>
            <a:ext cx="5285232" cy="1188720"/>
          </a:xfrm>
          <a:prstGeom prst="roundRect">
            <a:avLst>
              <a:gd name="adj" fmla="val 6154"/>
            </a:avLst>
          </a:prstGeom>
          <a:solidFill>
            <a:srgbClr val="101B35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3145536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19125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E9B6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35608" y="31272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Riesgos y ética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340156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Mostrar cómo se controlan errores del OCR, alucinaciones y sesgos de la IA.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6208" y="2926080"/>
            <a:ext cx="5285232" cy="1188720"/>
          </a:xfrm>
          <a:prstGeom prst="roundRect">
            <a:avLst>
              <a:gd name="adj" fmla="val 6154"/>
            </a:avLst>
          </a:prstGeom>
          <a:solidFill>
            <a:srgbClr val="101B35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9088" y="3145536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319125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E9B6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13448" y="31272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Integración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13448" y="340156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Explicar cómo el prototipo podría conectarse luego al sistema bibliotecario o a exportación MARC.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" y="4434840"/>
            <a:ext cx="5285232" cy="1188720"/>
          </a:xfrm>
          <a:prstGeom prst="roundRect">
            <a:avLst>
              <a:gd name="adj" fmla="val 6154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4654296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70001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E9B6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35608" y="4636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UX del catalogador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35608" y="491032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Incluir una interfaz simple donde el bibliotecario vea evidencia, edite y apruebe.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36208" y="4434840"/>
            <a:ext cx="5285232" cy="1188720"/>
          </a:xfrm>
          <a:prstGeom prst="roundRect">
            <a:avLst>
              <a:gd name="adj" fmla="val 6154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19088" y="4654296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470001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E9B6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13448" y="4636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Escalabilidad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3448" y="491032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EF9"/>
                </a:solidFill>
              </a:rPr>
              <a:t>Plantear fases futuras: tesis, revistas, material audiovisual o recomendación temática.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Cierre y próximos pasos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propuesta combina automatización, estándares y criterio profesional bibliotecario.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235440" y="566928"/>
            <a:ext cx="228600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101B35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Equipo y roles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97180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Hugo Alberto Gallo Machado: direccionamiento institucional, alcance y articulación con la Biblioteca UAO.</a:t>
            </a:r>
            <a:pPr indent="0" marL="0">
              <a:buNone/>
            </a:pPr>
            <a:r>
              <a:rPr lang="en-US" sz="13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Cesar Armando Reyes Oliveros: análisis, desarrollo, pruebas y documentación técnica.</a:t>
            </a:r>
            <a:pPr indent="0" marL="0">
              <a:buNone/>
            </a:pPr>
            <a:r>
              <a:rPr lang="en-US" sz="13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E8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Juan Pablo Maya Escudero: modelado funcional, validación del flujo y apoyo a la implementación.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4526280" y="1463040"/>
            <a:ext cx="7040880" cy="4389120"/>
          </a:xfrm>
          <a:prstGeom prst="roundRect">
            <a:avLst>
              <a:gd name="adj" fmla="val 1667"/>
            </a:avLst>
          </a:prstGeom>
          <a:solidFill>
            <a:srgbClr val="121B33"/>
          </a:solidFill>
          <a:ln w="12700">
            <a:solidFill>
              <a:srgbClr val="2731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737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Mensaje final para la exposición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28032" y="2212848"/>
            <a:ext cx="63550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E8EEF9"/>
                </a:solidFill>
              </a:rPr>
              <a:t>“El proyecto propone un agente de IA que apoye la catalogación de libros de forma responsable. Se basa en estándares bibliográficos, usa herramientas como OCR y NLP, incorpora validación humana y busca demostrar valor con un piloto medible antes de escalar.”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46320" y="3794760"/>
            <a:ext cx="5989320" cy="0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40690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Siguiente paso sugerido: aprobar alcance del piloto, definir muestra inicial de libros y acordar métricas base para medir el impacto.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28032" y="5074920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51297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E9B6"/>
                </a:solidFill>
              </a:rPr>
              <a:t>Pilotar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5074920"/>
            <a:ext cx="841248" cy="320040"/>
          </a:xfrm>
          <a:prstGeom prst="roundRect">
            <a:avLst>
              <a:gd name="adj" fmla="val 22857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51297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E9B6"/>
                </a:solidFill>
              </a:rPr>
              <a:t>Medir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48272" y="5074920"/>
            <a:ext cx="896112" cy="320040"/>
          </a:xfrm>
          <a:prstGeom prst="roundRect">
            <a:avLst>
              <a:gd name="adj" fmla="val 22857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5129784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E9B6"/>
                </a:solidFill>
              </a:rPr>
              <a:t>Ajustar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54112" y="5074920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123C3B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54112" y="51297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E9B6"/>
                </a:solidFill>
              </a:rPr>
              <a:t>Escalar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de Inteligencia Artificial para la Biblioteca</dc:title>
  <dc:subject>Agente de Inteligencia Artificial para la Biblioteca - CRAI Biblioteca UAO</dc:subject>
  <dc:creator>OpenAI</dc:creator>
  <cp:lastModifiedBy>OpenAI</cp:lastModifiedBy>
  <cp:revision>1</cp:revision>
  <dcterms:created xsi:type="dcterms:W3CDTF">2026-03-27T01:56:23Z</dcterms:created>
  <dcterms:modified xsi:type="dcterms:W3CDTF">2026-03-27T01:56:23Z</dcterms:modified>
</cp:coreProperties>
</file>
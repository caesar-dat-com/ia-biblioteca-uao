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RP_DARK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DE9B6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1A31"/>
          </a:solidFill>
          <a:ln w="12700">
            <a:solidFill>
              <a:srgbClr val="111A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684264"/>
            <a:ext cx="2560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4D0"/>
                </a:solidFill>
              </a:rPr>
              <a:t>CRAI Biblioteca UAO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502920"/>
            <a:ext cx="3749040" cy="5669280"/>
          </a:xfrm>
          <a:prstGeom prst="rect">
            <a:avLst/>
          </a:prstGeom>
          <a:solidFill>
            <a:srgbClr val="0E1630"/>
          </a:solidFill>
          <a:ln w="12700">
            <a:solidFill>
              <a:srgbClr val="0E16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914400"/>
            <a:ext cx="3108960" cy="4846320"/>
          </a:xfrm>
          <a:prstGeom prst="rect">
            <a:avLst/>
          </a:prstGeom>
          <a:solidFill>
            <a:srgbClr val="142142"/>
          </a:solidFill>
          <a:ln w="12700">
            <a:solidFill>
              <a:srgbClr val="14214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325880"/>
            <a:ext cx="2286000" cy="4023360"/>
          </a:xfrm>
          <a:prstGeom prst="rect">
            <a:avLst/>
          </a:prstGeom>
          <a:solidFill>
            <a:srgbClr val="1A2D54">
              <a:alpha val="90000"/>
            </a:srgbClr>
          </a:solidFill>
          <a:ln w="12700">
            <a:solidFill>
              <a:srgbClr val="1A2D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66760" y="1325880"/>
            <a:ext cx="2651760" cy="0"/>
          </a:xfrm>
          <a:prstGeom prst="line">
            <a:avLst/>
          </a:prstGeom>
          <a:noFill/>
          <a:ln w="12700">
            <a:solidFill>
              <a:srgbClr val="1DE9B6">
                <a:alpha val="2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66760" y="2130552"/>
            <a:ext cx="2651760" cy="0"/>
          </a:xfrm>
          <a:prstGeom prst="line">
            <a:avLst/>
          </a:prstGeom>
          <a:noFill/>
          <a:ln w="12700">
            <a:solidFill>
              <a:srgbClr val="58A6FF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2935224"/>
            <a:ext cx="2651760" cy="0"/>
          </a:xfrm>
          <a:prstGeom prst="line">
            <a:avLst/>
          </a:prstGeom>
          <a:noFill/>
          <a:ln w="12700">
            <a:solidFill>
              <a:srgbClr val="1DE9B6">
                <a:alpha val="2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66760" y="3739896"/>
            <a:ext cx="2651760" cy="0"/>
          </a:xfrm>
          <a:prstGeom prst="line">
            <a:avLst/>
          </a:prstGeom>
          <a:noFill/>
          <a:ln w="12700">
            <a:solidFill>
              <a:srgbClr val="58A6FF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66760" y="4544568"/>
            <a:ext cx="2651760" cy="0"/>
          </a:xfrm>
          <a:prstGeom prst="line">
            <a:avLst/>
          </a:prstGeom>
          <a:noFill/>
          <a:ln w="12700">
            <a:solidFill>
              <a:srgbClr val="1DE9B6">
                <a:alpha val="2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234440"/>
            <a:ext cx="0" cy="384048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1097280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 de Inteligencia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Artificial para la Biblioteca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" y="26974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4D0"/>
                </a:solidFill>
              </a:rPr>
              <a:t>Propuesta de trabajo, sustento metodológico, EDA teórico, implementación hipotética y cronograma de ejecución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60120" y="3456432"/>
            <a:ext cx="2697480" cy="320040"/>
          </a:xfrm>
          <a:prstGeom prst="roundRect">
            <a:avLst>
              <a:gd name="adj" fmla="val 22857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511296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Automatización de catalogación bibliográfica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94760" y="3456432"/>
            <a:ext cx="1965960" cy="320040"/>
          </a:xfrm>
          <a:prstGeom prst="roundRect">
            <a:avLst>
              <a:gd name="adj" fmla="val 22857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35112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Enfoque human-in-the-loop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97880" y="3456432"/>
            <a:ext cx="1627632" cy="320040"/>
          </a:xfrm>
          <a:prstGeom prst="roundRect">
            <a:avLst>
              <a:gd name="adj" fmla="val 22857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3511296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Piloto orientado a valor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4206240"/>
            <a:ext cx="6675120" cy="1325880"/>
          </a:xfrm>
          <a:prstGeom prst="roundRect">
            <a:avLst>
              <a:gd name="adj" fmla="val 5517"/>
            </a:avLst>
          </a:prstGeom>
          <a:solidFill>
            <a:srgbClr val="101A33"/>
          </a:solidFill>
          <a:ln w="12700">
            <a:solidFill>
              <a:srgbClr val="24314F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43000" y="44805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</a:rPr>
              <a:t>Institución: Proyectos CRAI-Biblioteca UAO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</a:rPr>
              <a:t>Responsable: Hugo Alberto Gallo Machado · hagallo@uao.edu.co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</a:rPr>
              <a:t>Estudiantes asignados: Cesar Armando Reyes Oliveros · Juan Pablo Maya Escudero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Contexto y problema a resolver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catalogación es técnica, repetitiva y crítica para la calidad del servicio bibliotecario.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5532120" cy="4983480"/>
          </a:xfrm>
          <a:prstGeom prst="roundRect">
            <a:avLst>
              <a:gd name="adj" fmla="val 1468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72200" y="1234440"/>
            <a:ext cx="5532120" cy="4983480"/>
          </a:xfrm>
          <a:prstGeom prst="roundRect">
            <a:avLst>
              <a:gd name="adj" fmla="val 1468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81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Dolores del proceso actual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1481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Oportunidad del proyecto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1810512"/>
            <a:ext cx="1097280" cy="0"/>
          </a:xfrm>
          <a:prstGeom prst="line">
            <a:avLst/>
          </a:prstGeom>
          <a:noFill/>
          <a:ln w="12700">
            <a:solidFill>
              <a:srgbClr val="58A6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810512"/>
            <a:ext cx="1097280" cy="0"/>
          </a:xfrm>
          <a:prstGeom prst="line">
            <a:avLst/>
          </a:prstGeom>
          <a:noFill/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993392"/>
            <a:ext cx="4892040" cy="3840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captura manual de metadatos exige tiempo y revisión permanente de portada, página legal, índice e ISBN.</a:t>
            </a:r>
            <a:pPr indent="0" marL="0">
              <a:buNone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variación en criterios de registro puede generar inconsistencias en autores, materias, edición y descripción física.</a:t>
            </a:r>
            <a:pPr indent="0" marL="0">
              <a:buNone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tiempo operativo invertido en tareas repetitivas reduce espacio para análisis, validación fina y atención al usuario.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19088" y="1993392"/>
            <a:ext cx="4892040" cy="3840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Implementar un agente de IA que sugiera metadatos, detecte faltantes y apoye la pre-catalogación.</a:t>
            </a:r>
            <a:pPr indent="0" marL="0">
              <a:buNone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Mantener al bibliotecario como validador final para asegurar control de calidad y cumplimiento técnico.</a:t>
            </a:r>
            <a:pPr indent="0" marL="0">
              <a:buNone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Disminuir tiempos de alistamiento sin sacrificar trazabilidad ni consistencia bibliográfica.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6355080"/>
            <a:ext cx="10881360" cy="502920"/>
          </a:xfrm>
          <a:prstGeom prst="roundRect">
            <a:avLst>
              <a:gd name="adj" fmla="val 10909"/>
            </a:avLst>
          </a:prstGeom>
          <a:solidFill>
            <a:srgbClr val="162239"/>
          </a:solidFill>
          <a:ln w="12700">
            <a:solidFill>
              <a:srgbClr val="263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6455664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9B4D0"/>
                </a:solidFill>
              </a:rPr>
              <a:t>Mensaje clave para exponer: la IA no reemplaza el criterio bibliotecario; lo potencia con velocidad y trazabilidad.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Objetivo general y alcance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vamos a construir y hasta dónde llega la primera versión del proyecto.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121F3D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536192"/>
            <a:ext cx="10469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Diseñar e implementar un agente de inteligencia artificial que apoye la catalogación de libros en la Biblioteca UAO, automatizando la extracción, normalización y sugerencia de metadatos con validación humana final.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5532120" cy="3383280"/>
          </a:xfrm>
          <a:prstGeom prst="roundRect">
            <a:avLst>
              <a:gd name="adj" fmla="val 2162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172200" y="2743200"/>
            <a:ext cx="5532120" cy="3383280"/>
          </a:xfrm>
          <a:prstGeom prst="roundRect">
            <a:avLst>
              <a:gd name="adj" fmla="val 2162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9992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Incluye en el prototipo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29992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 incluye en la primera fase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328416"/>
            <a:ext cx="1097280" cy="0"/>
          </a:xfrm>
          <a:prstGeom prst="line">
            <a:avLst/>
          </a:prstGeom>
          <a:noFill/>
          <a:ln w="12700">
            <a:solidFill>
              <a:srgbClr val="58A6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3328416"/>
            <a:ext cx="1097280" cy="0"/>
          </a:xfrm>
          <a:prstGeom prst="line">
            <a:avLst/>
          </a:prstGeom>
          <a:noFill/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511296"/>
            <a:ext cx="4892040" cy="2286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de fuentes como portada, contraportada, página legal, tabla de contenido e ISBN.</a:t>
            </a:r>
            <a:pPr indent="0" marL="0">
              <a:buNone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Sugerencia de campos: título, autor, editorial, año, edición, materias, resumen y alertas de inconsistencia.</a:t>
            </a:r>
            <a:pPr indent="0" marL="0">
              <a:buNone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Pantalla o flujo de revisión para que el catalogador apruebe, corrija o descarte sugerencias.</a:t>
            </a:r>
            <a:endParaRPr lang="en-US" sz="1420" dirty="0"/>
          </a:p>
        </p:txBody>
      </p:sp>
      <p:sp>
        <p:nvSpPr>
          <p:cNvPr id="14" name="Text 12"/>
          <p:cNvSpPr/>
          <p:nvPr/>
        </p:nvSpPr>
        <p:spPr>
          <a:xfrm>
            <a:off x="6419088" y="3511296"/>
            <a:ext cx="4892040" cy="2286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total sin revisión humana.</a:t>
            </a:r>
            <a:pPr indent="0" marL="0">
              <a:buNone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Integración productiva completa con todos los sistemas institucionales desde el primer sprint.</a:t>
            </a:r>
            <a:pPr indent="0" marL="0">
              <a:buNone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de todos los tipos documentales más allá de libros impresos, salvo que el alcance se amplíe.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¿Cómo lo vamos a trabajar?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Metodología por fases, con entregables cortos y validación continua del CRAI-Biblioteca.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029968" cy="4160520"/>
          </a:xfrm>
          <a:prstGeom prst="roundRect">
            <a:avLst>
              <a:gd name="adj" fmla="val 360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847088"/>
            <a:ext cx="603504" cy="292608"/>
          </a:xfrm>
          <a:prstGeom prst="roundRect">
            <a:avLst>
              <a:gd name="adj" fmla="val 25000"/>
            </a:avLst>
          </a:prstGeom>
          <a:solidFill>
            <a:srgbClr val="182A4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901952"/>
            <a:ext cx="603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</a:rPr>
              <a:t>Fase 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Diagnóstico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7512" y="2788920"/>
            <a:ext cx="1664208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Mapeo del proceso actual, actores, insumos, cuellos de botella y criterios de aceptación.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0320" y="3429000"/>
            <a:ext cx="164592" cy="320040"/>
          </a:xfrm>
          <a:prstGeom prst="chevron">
            <a:avLst/>
          </a:prstGeom>
          <a:solidFill>
            <a:srgbClr val="5D6D90"/>
          </a:solidFill>
          <a:ln w="12700">
            <a:solidFill>
              <a:srgbClr val="5D6D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1645920"/>
            <a:ext cx="2029968" cy="4160520"/>
          </a:xfrm>
          <a:prstGeom prst="roundRect">
            <a:avLst>
              <a:gd name="adj" fmla="val 360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99232" y="1847088"/>
            <a:ext cx="603504" cy="292608"/>
          </a:xfrm>
          <a:prstGeom prst="roundRect">
            <a:avLst>
              <a:gd name="adj" fmla="val 25000"/>
            </a:avLst>
          </a:prstGeom>
          <a:solidFill>
            <a:srgbClr val="182A4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9232" y="1901952"/>
            <a:ext cx="603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</a:rPr>
              <a:t>Fase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99232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Diseño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999232" y="2788920"/>
            <a:ext cx="1664208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Definición funcional y técnica del agente, entradas, salidas, reglas y arquitectura.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92040" y="3429000"/>
            <a:ext cx="164592" cy="320040"/>
          </a:xfrm>
          <a:prstGeom prst="chevron">
            <a:avLst/>
          </a:prstGeom>
          <a:solidFill>
            <a:srgbClr val="5D6D90"/>
          </a:solidFill>
          <a:ln w="12700">
            <a:solidFill>
              <a:srgbClr val="5D6D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66360" y="1645920"/>
            <a:ext cx="2029968" cy="4160520"/>
          </a:xfrm>
          <a:prstGeom prst="roundRect">
            <a:avLst>
              <a:gd name="adj" fmla="val 3604"/>
            </a:avLst>
          </a:prstGeom>
          <a:solidFill>
            <a:srgbClr val="14274A"/>
          </a:solidFill>
          <a:ln w="12700">
            <a:solidFill>
              <a:srgbClr val="1DE9B6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30952" y="1847088"/>
            <a:ext cx="603504" cy="292608"/>
          </a:xfrm>
          <a:prstGeom prst="roundRect">
            <a:avLst>
              <a:gd name="adj" fmla="val 25000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30952" y="1901952"/>
            <a:ext cx="603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E9B6"/>
                </a:solidFill>
              </a:rPr>
              <a:t>Fase 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30952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Desarrollo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330952" y="2788920"/>
            <a:ext cx="1664208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Construcción del prototipo con OCR, NLP, reglas bibliográficas y revisión asistida.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223760" y="3429000"/>
            <a:ext cx="164592" cy="320040"/>
          </a:xfrm>
          <a:prstGeom prst="chevron">
            <a:avLst/>
          </a:prstGeom>
          <a:solidFill>
            <a:srgbClr val="5D6D90"/>
          </a:solidFill>
          <a:ln w="12700">
            <a:solidFill>
              <a:srgbClr val="5D6D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645920"/>
            <a:ext cx="2029968" cy="4160520"/>
          </a:xfrm>
          <a:prstGeom prst="roundRect">
            <a:avLst>
              <a:gd name="adj" fmla="val 360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62672" y="1847088"/>
            <a:ext cx="603504" cy="292608"/>
          </a:xfrm>
          <a:prstGeom prst="roundRect">
            <a:avLst>
              <a:gd name="adj" fmla="val 25000"/>
            </a:avLst>
          </a:prstGeom>
          <a:solidFill>
            <a:srgbClr val="182A4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62672" y="1901952"/>
            <a:ext cx="603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</a:rPr>
              <a:t>Fase 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662672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Piloto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62672" y="2788920"/>
            <a:ext cx="1664208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Pruebas con libros reales, comparación con registros validados y medición de precisión.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555480" y="3429000"/>
            <a:ext cx="164592" cy="320040"/>
          </a:xfrm>
          <a:prstGeom prst="chevron">
            <a:avLst/>
          </a:prstGeom>
          <a:solidFill>
            <a:srgbClr val="5D6D90"/>
          </a:solidFill>
          <a:ln w="12700">
            <a:solidFill>
              <a:srgbClr val="5D6D9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1645920"/>
            <a:ext cx="2029968" cy="4160520"/>
          </a:xfrm>
          <a:prstGeom prst="roundRect">
            <a:avLst>
              <a:gd name="adj" fmla="val 360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994392" y="1847088"/>
            <a:ext cx="603504" cy="292608"/>
          </a:xfrm>
          <a:prstGeom prst="roundRect">
            <a:avLst>
              <a:gd name="adj" fmla="val 25000"/>
            </a:avLst>
          </a:prstGeom>
          <a:solidFill>
            <a:srgbClr val="182A4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94392" y="1901952"/>
            <a:ext cx="603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</a:rPr>
              <a:t>Fase 5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994392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Mejora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994392" y="2788920"/>
            <a:ext cx="1664208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Ajustes de prompts, reglas, interfaz, métricas y plan de escalamiento.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85800" y="6144768"/>
            <a:ext cx="10835640" cy="502920"/>
          </a:xfrm>
          <a:prstGeom prst="roundRect">
            <a:avLst>
              <a:gd name="adj" fmla="val 10909"/>
            </a:avLst>
          </a:prstGeom>
          <a:solidFill>
            <a:srgbClr val="162239"/>
          </a:solidFill>
          <a:ln w="12700">
            <a:solidFill>
              <a:srgbClr val="263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528" y="6245352"/>
            <a:ext cx="1061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9B4D0"/>
                </a:solidFill>
              </a:rPr>
              <a:t>Narrativa recomendada: mostrar un proyecto incremental, con una salida utilizable desde el piloto y sin prometer automatización total temprana.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EDA teórico del proyecto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entrenar o parametrizar el agente, conviene analizar la forma y calidad de los datos disponibles.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0876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916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Fuentes a explorar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1984248"/>
            <a:ext cx="96012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167128"/>
            <a:ext cx="4828032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bibliográficos históricos del catálogo.</a:t>
            </a:r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Portadas, páginas legales, índices y contraportadas digitalizadas.</a:t>
            </a:r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Campos existentes en el sistema actual: ISBN, autores, materias, editorial, año.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101B35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6916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Variables críticas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0" y="1984248"/>
            <a:ext cx="96012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167128"/>
            <a:ext cx="4828032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Completitud por campo.</a:t>
            </a:r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Frecuencia de autores repetidos, editoriales y materias.</a:t>
            </a:r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Tasa de duplicados, inconsistencias ortográficas y campos vacíos.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4360" y="379476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39776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Preguntas del EDA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22960" y="4270248"/>
            <a:ext cx="960120" cy="0"/>
          </a:xfrm>
          <a:prstGeom prst="line">
            <a:avLst/>
          </a:prstGeom>
          <a:noFill/>
          <a:ln w="12700">
            <a:solidFill>
              <a:srgbClr val="FFC8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4453128"/>
            <a:ext cx="4828032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campos se pueden inferir con alta confianza?</a:t>
            </a:r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¿Dónde están los errores más comunes del registro manual?</a:t>
            </a:r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combinación de fuentes aporta más precisión?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72200" y="379476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101B35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9776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Indicadores esperados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0" y="4270248"/>
            <a:ext cx="960120" cy="0"/>
          </a:xfrm>
          <a:prstGeom prst="line">
            <a:avLst/>
          </a:prstGeom>
          <a:noFill/>
          <a:ln w="12700">
            <a:solidFill>
              <a:srgbClr val="FFC8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73368" y="4453128"/>
            <a:ext cx="4828032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% de registros completos.</a:t>
            </a:r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% de coincidencia entre sugerencia y validación humana.</a:t>
            </a:r>
            <a:pPr indent="0" marL="0">
              <a:buNone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Tiempo promedio antes vs. después del agente.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85800" y="5989320"/>
            <a:ext cx="10835640" cy="502920"/>
          </a:xfrm>
          <a:prstGeom prst="roundRect">
            <a:avLst>
              <a:gd name="adj" fmla="val 10909"/>
            </a:avLst>
          </a:prstGeom>
          <a:solidFill>
            <a:srgbClr val="162239"/>
          </a:solidFill>
          <a:ln w="12700">
            <a:solidFill>
              <a:srgbClr val="263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6089904"/>
            <a:ext cx="1061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9B4D0"/>
                </a:solidFill>
              </a:rPr>
              <a:t>Recomendación: presentar el EDA como la base que permite decidir con qué datos arrancar, qué limpiar y qué métricas usar.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Implementación teórica del agente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propuesta para una primera solución funcional y escalable.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33172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6384" y="24871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1. Ingesta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86384" y="2807208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Libro físico o archivo escaneado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ISBN, portada, página legal e índice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88920" y="233172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35224" y="24871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2. Extracción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807208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OCR + parser de texto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Normalización básica de campos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937760" y="233172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10243A"/>
          </a:solidFill>
          <a:ln w="12700">
            <a:solidFill>
              <a:srgbClr val="1DE9B6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84064" y="248716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3. Motor IA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84064" y="2807208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NLP + reglas bibliográficas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Sugerencias y detección de faltantes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0" y="23317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61504" y="24871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4. Validación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461504" y="2807208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Revisión del catalogador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Aprobación, corrección o rechazo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601200" y="23317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747504" y="248716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5. Salida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747504" y="2807208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Registro listo para exportar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a MARC 21 / sistema interno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97280" y="429768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0F1730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325880" y="45171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A6FF"/>
                </a:solidFill>
              </a:rPr>
              <a:t>Capa transversal de gobierno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337560" y="4498848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8EEF9"/>
                </a:solidFill>
              </a:rPr>
              <a:t>Reglas de calidad · bitácora de decisiones · trazabilidad de evidencias · retroalimentación para mejora continua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85800" y="5897880"/>
            <a:ext cx="10835640" cy="502920"/>
          </a:xfrm>
          <a:prstGeom prst="roundRect">
            <a:avLst>
              <a:gd name="adj" fmla="val 10909"/>
            </a:avLst>
          </a:prstGeom>
          <a:solidFill>
            <a:srgbClr val="162239"/>
          </a:solidFill>
          <a:ln w="12700">
            <a:solidFill>
              <a:srgbClr val="263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5998464"/>
            <a:ext cx="1061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9B4D0"/>
                </a:solidFill>
              </a:rPr>
              <a:t>Esta implementación es teórica: sirve para mostrar cómo se conectan insumos, IA, reglas y validación humana en un flujo realista.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Flujo de trabajo hipotético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de cómo operaría el proceso cuando el prototipo esté en uso.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35608" y="3108960"/>
            <a:ext cx="804672" cy="0"/>
          </a:xfrm>
          <a:prstGeom prst="line">
            <a:avLst/>
          </a:prstGeom>
          <a:noFill/>
          <a:ln w="12700">
            <a:solidFill>
              <a:srgbClr val="4B5A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75888" y="3108960"/>
            <a:ext cx="804672" cy="0"/>
          </a:xfrm>
          <a:prstGeom prst="line">
            <a:avLst/>
          </a:prstGeom>
          <a:noFill/>
          <a:ln w="12700">
            <a:solidFill>
              <a:srgbClr val="4B5A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16168" y="3108960"/>
            <a:ext cx="804672" cy="0"/>
          </a:xfrm>
          <a:prstGeom prst="line">
            <a:avLst/>
          </a:prstGeom>
          <a:noFill/>
          <a:ln w="12700">
            <a:solidFill>
              <a:srgbClr val="4B5A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56448" y="3108960"/>
            <a:ext cx="804672" cy="0"/>
          </a:xfrm>
          <a:prstGeom prst="line">
            <a:avLst/>
          </a:prstGeom>
          <a:noFill/>
          <a:ln w="12700">
            <a:solidFill>
              <a:srgbClr val="4B5A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868680" cy="868680"/>
          </a:xfrm>
          <a:prstGeom prst="ellipse">
            <a:avLst/>
          </a:prstGeom>
          <a:solidFill>
            <a:srgbClr val="18284A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48716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5488" y="32735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Recepción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228600" y="3621024"/>
            <a:ext cx="1691640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E8EEF9"/>
                </a:solidFill>
              </a:rPr>
              <a:t>El libro ingresa al CRAI y se digitalizan las páginas mínimas necesarias.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2880360" y="2240280"/>
            <a:ext cx="868680" cy="868680"/>
          </a:xfrm>
          <a:prstGeom prst="ellipse">
            <a:avLst/>
          </a:prstGeom>
          <a:solidFill>
            <a:srgbClr val="18284A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0360" y="248716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715768" y="32735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Lectura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2468880" y="3621024"/>
            <a:ext cx="1691640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E8EEF9"/>
                </a:solidFill>
              </a:rPr>
              <a:t>El sistema toma ISBN, portada, página legal e índice como insumos iniciales.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5120640" y="2240280"/>
            <a:ext cx="868680" cy="868680"/>
          </a:xfrm>
          <a:prstGeom prst="ellipse">
            <a:avLst/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248716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E9B6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56048" y="32735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Sugerencia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709160" y="3621024"/>
            <a:ext cx="1691640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E8EEF9"/>
                </a:solidFill>
              </a:rPr>
              <a:t>El agente propone metadatos y alerta campos incompletos o inconsistentes.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7360920" y="2240280"/>
            <a:ext cx="868680" cy="868680"/>
          </a:xfrm>
          <a:prstGeom prst="ellipse">
            <a:avLst/>
          </a:prstGeom>
          <a:solidFill>
            <a:srgbClr val="18284A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60920" y="248716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96328" y="32735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Validación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949440" y="3621024"/>
            <a:ext cx="1691640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E8EEF9"/>
                </a:solidFill>
              </a:rPr>
              <a:t>El bibliotecario revisa, ajusta y aprueba el registro con evidencia visible.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9601200" y="2240280"/>
            <a:ext cx="868680" cy="868680"/>
          </a:xfrm>
          <a:prstGeom prst="ellipse">
            <a:avLst/>
          </a:prstGeom>
          <a:solidFill>
            <a:srgbClr val="18284A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01200" y="248716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436608" y="32735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Publicación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189720" y="3621024"/>
            <a:ext cx="1691640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E8EEF9"/>
                </a:solidFill>
              </a:rPr>
              <a:t>El registro validado se exporta al sistema institucional y queda trazado.</a:t>
            </a:r>
            <a:endParaRPr lang="en-US" sz="1180" dirty="0"/>
          </a:p>
        </p:txBody>
      </p:sp>
      <p:sp>
        <p:nvSpPr>
          <p:cNvPr id="29" name="Shape 27"/>
          <p:cNvSpPr/>
          <p:nvPr/>
        </p:nvSpPr>
        <p:spPr>
          <a:xfrm>
            <a:off x="822960" y="5257800"/>
            <a:ext cx="10515600" cy="658368"/>
          </a:xfrm>
          <a:prstGeom prst="roundRect">
            <a:avLst>
              <a:gd name="adj" fmla="val 11111"/>
            </a:avLst>
          </a:prstGeom>
          <a:solidFill>
            <a:srgbClr val="121F3D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143000" y="5458968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Resultado esperado: menos tiempo en captura repetitiva y más tiempo en validación experta, calidad y servicio al usuario.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¿Basado en qué se construye?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propuesta mezcla estándares bibliográficos, IA aplicada y control humano.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5532120" cy="4983480"/>
          </a:xfrm>
          <a:prstGeom prst="roundRect">
            <a:avLst>
              <a:gd name="adj" fmla="val 1468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72200" y="1234440"/>
            <a:ext cx="5532120" cy="4983480"/>
          </a:xfrm>
          <a:prstGeom prst="roundRect">
            <a:avLst>
              <a:gd name="adj" fmla="val 1468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81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Base bibliotecológica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1481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Base tecnológica y de calidad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1810512"/>
            <a:ext cx="1097280" cy="0"/>
          </a:xfrm>
          <a:prstGeom prst="line">
            <a:avLst/>
          </a:prstGeom>
          <a:noFill/>
          <a:ln w="12700">
            <a:solidFill>
              <a:srgbClr val="58A6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810512"/>
            <a:ext cx="1097280" cy="0"/>
          </a:xfrm>
          <a:prstGeom prst="line">
            <a:avLst/>
          </a:prstGeom>
          <a:noFill/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993392"/>
            <a:ext cx="4892040" cy="3840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RDA como referencia para descripción y relación entre elementos bibliográficos.</a:t>
            </a:r>
            <a:pPr indent="0" marL="0">
              <a:buNone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 21 como estructura objetivo o de interoperabilidad para los registros resultantes.</a:t>
            </a:r>
            <a:pPr indent="0" marL="0">
              <a:buNone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Dublin Core como apoyo conceptual para metadatos interoperables en ecosistemas digitales.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19088" y="1993392"/>
            <a:ext cx="4892040" cy="3840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OCR para convertir imagen en texto utilizable por el agente.</a:t>
            </a:r>
            <a:pPr indent="0" marL="0">
              <a:buNone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NLP / IA generativa para extraer, normalizar y sugerir campos con evidencia.</a:t>
            </a:r>
            <a:pPr indent="0" marL="0">
              <a:buNone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Human-in-the-loop para asegurar explicabilidad, corrección y mejora continua del sistema.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Validación piloto y métricas de éxito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demostrar que el prototipo aporta valor real al proceso de catalogación.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5532120" cy="4617720"/>
          </a:xfrm>
          <a:prstGeom prst="roundRect">
            <a:avLst>
              <a:gd name="adj" fmla="val 158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72200" y="1234440"/>
            <a:ext cx="5532120" cy="4617720"/>
          </a:xfrm>
          <a:prstGeom prst="roundRect">
            <a:avLst>
              <a:gd name="adj" fmla="val 158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81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Prueba piloto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1481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Métricas recomendadas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1810512"/>
            <a:ext cx="1097280" cy="0"/>
          </a:xfrm>
          <a:prstGeom prst="line">
            <a:avLst/>
          </a:prstGeom>
          <a:noFill/>
          <a:ln w="12700">
            <a:solidFill>
              <a:srgbClr val="58A6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810512"/>
            <a:ext cx="1097280" cy="0"/>
          </a:xfrm>
          <a:prstGeom prst="line">
            <a:avLst/>
          </a:prstGeom>
          <a:noFill/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993392"/>
            <a:ext cx="4892040" cy="3337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Seleccionar un conjunto controlado de libros representativos por área o complejidad.</a:t>
            </a:r>
            <a:pPr indent="0" marL="0">
              <a:buNone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Comparar el registro sugerido por el agente contra el registro final validado por el bibliotecario.</a:t>
            </a:r>
            <a:pPr indent="0" marL="0">
              <a:buNone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Analizar errores recurrentes en título, autores, materias, editoriales, fechas y duplicados.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6419088" y="1993392"/>
            <a:ext cx="4892040" cy="3337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Precisión de extracción por campo crítico.</a:t>
            </a:r>
            <a:pPr indent="0" marL="0">
              <a:buNone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Reducción del tiempo promedio de pre-catalogación.</a:t>
            </a:r>
            <a:pPr indent="0" marL="0">
              <a:buNone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Porcentaje de sugerencias aceptadas sin cambios, con ajuste menor y con rechazo.</a:t>
            </a:r>
            <a:endParaRPr lang="en-US" sz="1440" dirty="0"/>
          </a:p>
        </p:txBody>
      </p:sp>
      <p:sp>
        <p:nvSpPr>
          <p:cNvPr id="13" name="Shape 11"/>
          <p:cNvSpPr/>
          <p:nvPr/>
        </p:nvSpPr>
        <p:spPr>
          <a:xfrm>
            <a:off x="777240" y="5897880"/>
            <a:ext cx="10698480" cy="502920"/>
          </a:xfrm>
          <a:prstGeom prst="roundRect">
            <a:avLst>
              <a:gd name="adj" fmla="val 10909"/>
            </a:avLst>
          </a:prstGeom>
          <a:solidFill>
            <a:srgbClr val="162239"/>
          </a:solidFill>
          <a:ln w="12700">
            <a:solidFill>
              <a:srgbClr val="263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5998464"/>
            <a:ext cx="10479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9B4D0"/>
                </a:solidFill>
              </a:rPr>
              <a:t>KPI central: mostrar que el agente ahorra tiempo sin deteriorar la calidad del registro bibliográfico.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Cronograma hipotético (desde la semana pasada hasta la exposición)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Fechas explícitas para evitar ambigüedad. Mañana corresponde al sábado 28 de marzo de 2026.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444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Actividad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788920" y="1664208"/>
            <a:ext cx="8449056" cy="0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88920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16 Mar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2788920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57016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17 Mar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3557016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5112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18 Mar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4325112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93208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19 Mar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93208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61304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20 Mar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861304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23 Mar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629400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97496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24 Mar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7397496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5592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25 Mar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8165592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26 Mar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8933688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01784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27 Mar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9701784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69880" y="14356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28 Mar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10469880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37976" y="1783080"/>
            <a:ext cx="0" cy="3730752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1920240"/>
            <a:ext cx="1874520" cy="475488"/>
          </a:xfrm>
          <a:prstGeom prst="roundRect">
            <a:avLst>
              <a:gd name="adj" fmla="val 7692"/>
            </a:avLst>
          </a:prstGeom>
          <a:solidFill>
            <a:srgbClr val="101A33"/>
          </a:solidFill>
          <a:ln w="12700">
            <a:solidFill>
              <a:srgbClr val="2731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2057400"/>
            <a:ext cx="1572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9"/>
                </a:solidFill>
              </a:rPr>
              <a:t>Definición del alcance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788920" y="2478024"/>
            <a:ext cx="8449056" cy="0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62072" y="1993392"/>
            <a:ext cx="1389888" cy="310896"/>
          </a:xfrm>
          <a:prstGeom prst="roundRect">
            <a:avLst>
              <a:gd name="adj" fmla="val 17647"/>
            </a:avLst>
          </a:prstGeom>
          <a:solidFill>
            <a:srgbClr val="6E8EDC"/>
          </a:solidFill>
          <a:ln w="12700">
            <a:solidFill>
              <a:srgbClr val="6E8E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62072" y="207568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09223B"/>
                </a:solidFill>
              </a:rPr>
              <a:t>En curso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731520" y="2523744"/>
            <a:ext cx="1874520" cy="475488"/>
          </a:xfrm>
          <a:prstGeom prst="roundRect">
            <a:avLst>
              <a:gd name="adj" fmla="val 7692"/>
            </a:avLst>
          </a:prstGeom>
          <a:solidFill>
            <a:srgbClr val="0F1730"/>
          </a:solidFill>
          <a:ln w="12700">
            <a:solidFill>
              <a:srgbClr val="2731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2660904"/>
            <a:ext cx="1572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9"/>
                </a:solidFill>
              </a:rPr>
              <a:t>Levantamiento del proceso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788920" y="3081528"/>
            <a:ext cx="8449056" cy="0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98264" y="2596896"/>
            <a:ext cx="2157984" cy="310896"/>
          </a:xfrm>
          <a:prstGeom prst="roundRect">
            <a:avLst>
              <a:gd name="adj" fmla="val 17647"/>
            </a:avLst>
          </a:prstGeom>
          <a:solidFill>
            <a:srgbClr val="6E8EDC"/>
          </a:solidFill>
          <a:ln w="12700">
            <a:solidFill>
              <a:srgbClr val="6E8E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98264" y="2679192"/>
            <a:ext cx="21579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09223B"/>
                </a:solidFill>
              </a:rPr>
              <a:t>En curso</a:t>
            </a:r>
            <a:endParaRPr lang="en-US" sz="940" dirty="0"/>
          </a:p>
        </p:txBody>
      </p:sp>
      <p:sp>
        <p:nvSpPr>
          <p:cNvPr id="40" name="Shape 38"/>
          <p:cNvSpPr/>
          <p:nvPr/>
        </p:nvSpPr>
        <p:spPr>
          <a:xfrm>
            <a:off x="731520" y="3127248"/>
            <a:ext cx="1874520" cy="475488"/>
          </a:xfrm>
          <a:prstGeom prst="roundRect">
            <a:avLst>
              <a:gd name="adj" fmla="val 7692"/>
            </a:avLst>
          </a:prstGeom>
          <a:solidFill>
            <a:srgbClr val="101A33"/>
          </a:solidFill>
          <a:ln w="12700">
            <a:solidFill>
              <a:srgbClr val="2731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8680" y="3264408"/>
            <a:ext cx="1572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9"/>
                </a:solidFill>
              </a:rPr>
              <a:t>EDA teórico y criterios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788920" y="3685032"/>
            <a:ext cx="8449056" cy="0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02552" y="3200400"/>
            <a:ext cx="1389888" cy="310896"/>
          </a:xfrm>
          <a:prstGeom prst="roundRect">
            <a:avLst>
              <a:gd name="adj" fmla="val 17647"/>
            </a:avLst>
          </a:prstGeom>
          <a:solidFill>
            <a:srgbClr val="1DE9B6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02552" y="3282696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09223B"/>
                </a:solidFill>
              </a:rPr>
              <a:t>En curso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731520" y="3730752"/>
            <a:ext cx="1874520" cy="475488"/>
          </a:xfrm>
          <a:prstGeom prst="roundRect">
            <a:avLst>
              <a:gd name="adj" fmla="val 7692"/>
            </a:avLst>
          </a:prstGeom>
          <a:solidFill>
            <a:srgbClr val="0F1730"/>
          </a:solidFill>
          <a:ln w="12700">
            <a:solidFill>
              <a:srgbClr val="2731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8680" y="3867912"/>
            <a:ext cx="1572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9"/>
                </a:solidFill>
              </a:rPr>
              <a:t>Arquitectura e implementación teórica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2788920" y="4288536"/>
            <a:ext cx="8449056" cy="0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70648" y="3803904"/>
            <a:ext cx="1389888" cy="310896"/>
          </a:xfrm>
          <a:prstGeom prst="roundRect">
            <a:avLst>
              <a:gd name="adj" fmla="val 17647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70648" y="3886200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09223B"/>
                </a:solidFill>
              </a:rPr>
              <a:t>En curso</a:t>
            </a:r>
            <a:endParaRPr lang="en-US" sz="940" dirty="0"/>
          </a:p>
        </p:txBody>
      </p:sp>
      <p:sp>
        <p:nvSpPr>
          <p:cNvPr id="50" name="Shape 48"/>
          <p:cNvSpPr/>
          <p:nvPr/>
        </p:nvSpPr>
        <p:spPr>
          <a:xfrm>
            <a:off x="731520" y="4334256"/>
            <a:ext cx="1874520" cy="475488"/>
          </a:xfrm>
          <a:prstGeom prst="roundRect">
            <a:avLst>
              <a:gd name="adj" fmla="val 7692"/>
            </a:avLst>
          </a:prstGeom>
          <a:solidFill>
            <a:srgbClr val="101A33"/>
          </a:solidFill>
          <a:ln w="12700">
            <a:solidFill>
              <a:srgbClr val="2731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68680" y="4471416"/>
            <a:ext cx="1572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9"/>
                </a:solidFill>
              </a:rPr>
              <a:t>Construcción y ajuste de la exposición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2788920" y="4892040"/>
            <a:ext cx="8449056" cy="0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06840" y="4407408"/>
            <a:ext cx="1389888" cy="310896"/>
          </a:xfrm>
          <a:prstGeom prst="roundRect">
            <a:avLst>
              <a:gd name="adj" fmla="val 17647"/>
            </a:avLst>
          </a:prstGeom>
          <a:solidFill>
            <a:srgbClr val="8AA3F0"/>
          </a:solidFill>
          <a:ln w="12700">
            <a:solidFill>
              <a:srgbClr val="8AA3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06840" y="4489704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09223B"/>
                </a:solidFill>
              </a:rPr>
              <a:t>En curso</a:t>
            </a:r>
            <a:endParaRPr lang="en-US" sz="940" dirty="0"/>
          </a:p>
        </p:txBody>
      </p:sp>
      <p:sp>
        <p:nvSpPr>
          <p:cNvPr id="55" name="Shape 53"/>
          <p:cNvSpPr/>
          <p:nvPr/>
        </p:nvSpPr>
        <p:spPr>
          <a:xfrm>
            <a:off x="731520" y="4937760"/>
            <a:ext cx="1874520" cy="475488"/>
          </a:xfrm>
          <a:prstGeom prst="roundRect">
            <a:avLst>
              <a:gd name="adj" fmla="val 7692"/>
            </a:avLst>
          </a:prstGeom>
          <a:solidFill>
            <a:srgbClr val="0F1730"/>
          </a:solidFill>
          <a:ln w="12700">
            <a:solidFill>
              <a:srgbClr val="2731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68680" y="5074920"/>
            <a:ext cx="1572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9"/>
                </a:solidFill>
              </a:rPr>
              <a:t>Exposición del proyecto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2788920" y="5495544"/>
            <a:ext cx="8449056" cy="0"/>
          </a:xfrm>
          <a:prstGeom prst="line">
            <a:avLst/>
          </a:prstGeom>
          <a:noFill/>
          <a:ln w="12700">
            <a:solidFill>
              <a:srgbClr val="27314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543032" y="5010912"/>
            <a:ext cx="621792" cy="310896"/>
          </a:xfrm>
          <a:prstGeom prst="roundRect">
            <a:avLst>
              <a:gd name="adj" fmla="val 17647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543032" y="5093208"/>
            <a:ext cx="6217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2B00"/>
                </a:solidFill>
              </a:rPr>
              <a:t>Expo</a:t>
            </a:r>
            <a:endParaRPr lang="en-US" sz="940" dirty="0"/>
          </a:p>
        </p:txBody>
      </p:sp>
      <p:sp>
        <p:nvSpPr>
          <p:cNvPr id="60" name="Shape 58"/>
          <p:cNvSpPr/>
          <p:nvPr/>
        </p:nvSpPr>
        <p:spPr>
          <a:xfrm>
            <a:off x="731520" y="5897880"/>
            <a:ext cx="10835640" cy="502920"/>
          </a:xfrm>
          <a:prstGeom prst="roundRect">
            <a:avLst>
              <a:gd name="adj" fmla="val 10909"/>
            </a:avLst>
          </a:prstGeom>
          <a:solidFill>
            <a:srgbClr val="162239"/>
          </a:solidFill>
          <a:ln w="12700">
            <a:solidFill>
              <a:srgbClr val="26334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1248" y="5998464"/>
            <a:ext cx="1061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9B4D0"/>
                </a:solidFill>
              </a:rPr>
              <a:t>Léelo como un cronograma hipotético de preparación: la exposición está programada para mañana, sábado 28 de marzo de 2026.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10. ¿Qué más conviene agregar al proyecto?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Recomendaciones para que la propuesta se vea más robusta y viable ante evaluación académica o institucional.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17320"/>
            <a:ext cx="5285232" cy="1188720"/>
          </a:xfrm>
          <a:prstGeom prst="roundRect">
            <a:avLst>
              <a:gd name="adj" fmla="val 615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636776"/>
            <a:ext cx="475488" cy="292608"/>
          </a:xfrm>
          <a:prstGeom prst="roundRect">
            <a:avLst>
              <a:gd name="adj" fmla="val 18750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82496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435608" y="161848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Gobierno de datos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35608" y="1892808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Definir de dónde salen los registros, quién los limpia y cómo se protegen los datos.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6208" y="1417320"/>
            <a:ext cx="5285232" cy="1188720"/>
          </a:xfrm>
          <a:prstGeom prst="roundRect">
            <a:avLst>
              <a:gd name="adj" fmla="val 615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9088" y="1636776"/>
            <a:ext cx="475488" cy="292608"/>
          </a:xfrm>
          <a:prstGeom prst="roundRect">
            <a:avLst>
              <a:gd name="adj" fmla="val 18750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9088" y="1682496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13448" y="161848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Métricas de éxito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13448" y="1892808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Dejar desde el inicio KPIs claros de precisión, tiempo ahorrado y tasa de aceptación.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2926080"/>
            <a:ext cx="5285232" cy="1188720"/>
          </a:xfrm>
          <a:prstGeom prst="roundRect">
            <a:avLst>
              <a:gd name="adj" fmla="val 6154"/>
            </a:avLst>
          </a:prstGeom>
          <a:solidFill>
            <a:srgbClr val="101B35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3145536"/>
            <a:ext cx="475488" cy="292608"/>
          </a:xfrm>
          <a:prstGeom prst="roundRect">
            <a:avLst>
              <a:gd name="adj" fmla="val 18750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191256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35608" y="31272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Riesgos y ética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35608" y="3401568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Mostrar cómo se controlan errores del OCR, alucinaciones y sesgos de la IA.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36208" y="2926080"/>
            <a:ext cx="5285232" cy="1188720"/>
          </a:xfrm>
          <a:prstGeom prst="roundRect">
            <a:avLst>
              <a:gd name="adj" fmla="val 6154"/>
            </a:avLst>
          </a:prstGeom>
          <a:solidFill>
            <a:srgbClr val="101B35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19088" y="3145536"/>
            <a:ext cx="475488" cy="292608"/>
          </a:xfrm>
          <a:prstGeom prst="roundRect">
            <a:avLst>
              <a:gd name="adj" fmla="val 18750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9088" y="3191256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3448" y="31272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Integración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13448" y="3401568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Explicar cómo el prototipo podría conectarse luego al sistema bibliotecario o a exportación MARC.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8368" y="4434840"/>
            <a:ext cx="5285232" cy="1188720"/>
          </a:xfrm>
          <a:prstGeom prst="roundRect">
            <a:avLst>
              <a:gd name="adj" fmla="val 615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4654296"/>
            <a:ext cx="475488" cy="292608"/>
          </a:xfrm>
          <a:prstGeom prst="roundRect">
            <a:avLst>
              <a:gd name="adj" fmla="val 18750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" y="4700016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435608" y="463600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UX del catalogador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435608" y="4910328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Incluir una interfaz simple donde el bibliotecario vea evidencia, edite y apruebe.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236208" y="4434840"/>
            <a:ext cx="5285232" cy="1188720"/>
          </a:xfrm>
          <a:prstGeom prst="roundRect">
            <a:avLst>
              <a:gd name="adj" fmla="val 6154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19088" y="4654296"/>
            <a:ext cx="475488" cy="292608"/>
          </a:xfrm>
          <a:prstGeom prst="roundRect">
            <a:avLst>
              <a:gd name="adj" fmla="val 18750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19088" y="4700016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013448" y="463600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Escalabilidad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13448" y="4910328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8EEF9"/>
                </a:solidFill>
              </a:rPr>
              <a:t>Plantear fases futuras: tesis, revistas, material audiovisual o recomendación temática.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11. Cierre y próximos pasos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propuesta combina automatización, estándares y criterio profesional bibliotecario.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235440" y="566928"/>
            <a:ext cx="228600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3657600" cy="4389120"/>
          </a:xfrm>
          <a:prstGeom prst="roundRect">
            <a:avLst>
              <a:gd name="adj" fmla="val 2000"/>
            </a:avLst>
          </a:prstGeom>
          <a:solidFill>
            <a:srgbClr val="101B35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Equipo y roles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2971800" cy="3108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Hugo Alberto Gallo Machado: direccionamiento institucional, alcance y articulación con la Biblioteca UAO.</a:t>
            </a:r>
            <a:pPr indent="0" marL="0">
              <a:buNone/>
            </a:pPr>
            <a:r>
              <a:rPr lang="en-US" sz="13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Cesar Armando Reyes Oliveros: análisis, desarrollo, pruebas y documentación técnica.</a:t>
            </a:r>
            <a:pPr indent="0" marL="0">
              <a:buNone/>
            </a:pPr>
            <a:r>
              <a:rPr lang="en-US" sz="13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E8EE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Juan Pablo Maya Escudero: modelado funcional, validación del flujo y apoyo a la implementación.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4526280" y="1463040"/>
            <a:ext cx="7040880" cy="4389120"/>
          </a:xfrm>
          <a:prstGeom prst="roundRect">
            <a:avLst>
              <a:gd name="adj" fmla="val 1667"/>
            </a:avLst>
          </a:prstGeom>
          <a:solidFill>
            <a:srgbClr val="121B33"/>
          </a:solidFill>
          <a:ln w="12700">
            <a:solidFill>
              <a:srgbClr val="27314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28032" y="17373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Mensaje final para la exposición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28032" y="2212848"/>
            <a:ext cx="635508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E8EEF9"/>
                </a:solidFill>
              </a:rPr>
              <a:t>“El proyecto propone un agente de IA que apoye la catalogación de libros de forma responsable. Se basa en estándares bibliográficos, usa herramientas como OCR y NLP, incorpora validación humana y busca demostrar valor con un piloto medible antes de escalar.”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846320" y="3794760"/>
            <a:ext cx="5989320" cy="0"/>
          </a:xfrm>
          <a:prstGeom prst="line">
            <a:avLst/>
          </a:prstGeom>
          <a:noFill/>
          <a:ln w="12700">
            <a:solidFill>
              <a:srgbClr val="1DE9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406908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Siguiente paso sugerido: aprobar alcance del piloto, definir muestra inicial de libros y acordar métricas base para medir el impacto.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28032" y="5074920"/>
            <a:ext cx="868680" cy="320040"/>
          </a:xfrm>
          <a:prstGeom prst="roundRect">
            <a:avLst>
              <a:gd name="adj" fmla="val 22857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8032" y="5129784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Pilotar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06440" y="5074920"/>
            <a:ext cx="841248" cy="320040"/>
          </a:xfrm>
          <a:prstGeom prst="roundRect">
            <a:avLst>
              <a:gd name="adj" fmla="val 22857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6440" y="51297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Medir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48272" y="5074920"/>
            <a:ext cx="896112" cy="320040"/>
          </a:xfrm>
          <a:prstGeom prst="roundRect">
            <a:avLst>
              <a:gd name="adj" fmla="val 22857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48272" y="5129784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Ajustar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54112" y="5074920"/>
            <a:ext cx="868680" cy="320040"/>
          </a:xfrm>
          <a:prstGeom prst="roundRect">
            <a:avLst>
              <a:gd name="adj" fmla="val 22857"/>
            </a:avLst>
          </a:prstGeom>
          <a:solidFill>
            <a:srgbClr val="123C3B"/>
          </a:solidFill>
          <a:ln w="12700">
            <a:solidFill>
              <a:srgbClr val="1DE9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54112" y="5129784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E9B6"/>
                </a:solidFill>
              </a:rPr>
              <a:t>Escalar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65976"/>
            <a:ext cx="32004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9B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de Inteligencia Artificial para la Biblioteca</dc:title>
  <dc:subject>Agente de Inteligencia Artificial para la Biblioteca - CRAI Biblioteca UAO</dc:subject>
  <dc:creator>OpenAI</dc:creator>
  <cp:lastModifiedBy>OpenAI</cp:lastModifiedBy>
  <cp:revision>1</cp:revision>
  <dcterms:created xsi:type="dcterms:W3CDTF">2026-03-27T01:56:23Z</dcterms:created>
  <dcterms:modified xsi:type="dcterms:W3CDTF">2026-03-27T01:56:23Z</dcterms:modified>
</cp:coreProperties>
</file>